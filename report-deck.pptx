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2011680"/>
            <a:ext cx="10515600" cy="1463040"/>
          </a:xfrm>
          <a:prstGeom prst="rect">
            <a:avLst/>
          </a:prstGeom>
          <a:noFill/>
        </p:spPr>
        <p:txBody>
          <a:bodyPr wrap="square">
            <a:spAutoFit/>
          </a:bodyPr>
          <a:lstStyle/>
          <a:p>
            <a:pPr algn="l"/>
            <a:r>
              <a:rPr sz="4400" b="1">
                <a:solidFill>
                  <a:srgbClr val="FFFFFF"/>
                </a:solidFill>
                <a:latin typeface="Trebuchet MS"/>
              </a:rPr>
              <a:t>Where the Conversion Leaks Are</a:t>
            </a:r>
          </a:p>
        </p:txBody>
      </p:sp>
      <p:sp>
        <p:nvSpPr>
          <p:cNvPr id="3" name="TextBox 2"/>
          <p:cNvSpPr txBox="1"/>
          <p:nvPr/>
        </p:nvSpPr>
        <p:spPr>
          <a:xfrm>
            <a:off x="822960" y="3200400"/>
            <a:ext cx="10515600" cy="548640"/>
          </a:xfrm>
          <a:prstGeom prst="rect">
            <a:avLst/>
          </a:prstGeom>
          <a:noFill/>
        </p:spPr>
        <p:txBody>
          <a:bodyPr wrap="square">
            <a:spAutoFit/>
          </a:bodyPr>
          <a:lstStyle/>
          <a:p>
            <a:pPr algn="l"/>
            <a:r>
              <a:rPr sz="1800" b="0">
                <a:solidFill>
                  <a:srgbClr val="3DB891"/>
                </a:solidFill>
                <a:latin typeface="Trebuchet MS"/>
              </a:rPr>
              <a:t>voicenotes.com  ·  CRO Recommendations  ·  August 2026</a:t>
            </a:r>
          </a:p>
        </p:txBody>
      </p:sp>
      <p:sp>
        <p:nvSpPr>
          <p:cNvPr id="4" name="TextBox 3"/>
          <p:cNvSpPr txBox="1"/>
          <p:nvPr/>
        </p:nvSpPr>
        <p:spPr>
          <a:xfrm>
            <a:off x="822960" y="4206240"/>
            <a:ext cx="10515600" cy="548640"/>
          </a:xfrm>
          <a:prstGeom prst="rect">
            <a:avLst/>
          </a:prstGeom>
          <a:noFill/>
        </p:spPr>
        <p:txBody>
          <a:bodyPr wrap="square">
            <a:spAutoFit/>
          </a:bodyPr>
          <a:lstStyle/>
          <a:p>
            <a:pPr algn="l"/>
            <a:r>
              <a:rPr sz="1500" b="0">
                <a:solidFill>
                  <a:srgbClr val="7A9E8E"/>
                </a:solidFill>
                <a:latin typeface="Trebuchet MS"/>
              </a:rPr>
              <a:t>Overall grade B (81/100)  ·  10 findings  ·  1 verified by measurement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548640"/>
            <a:ext cx="10515600" cy="457200"/>
          </a:xfrm>
          <a:prstGeom prst="rect">
            <a:avLst/>
          </a:prstGeom>
          <a:noFill/>
        </p:spPr>
        <p:txBody>
          <a:bodyPr wrap="square">
            <a:spAutoFit/>
          </a:bodyPr>
          <a:lstStyle/>
          <a:p>
            <a:pPr algn="l"/>
            <a:r>
              <a:rPr sz="1300" b="1">
                <a:solidFill>
                  <a:srgbClr val="3DB891"/>
                </a:solidFill>
                <a:latin typeface="Trebuchet MS"/>
              </a:rPr>
              <a:t>THE CORE FINDING</a:t>
            </a:r>
          </a:p>
        </p:txBody>
      </p:sp>
      <p:sp>
        <p:nvSpPr>
          <p:cNvPr id="3" name="TextBox 2"/>
          <p:cNvSpPr txBox="1"/>
          <p:nvPr/>
        </p:nvSpPr>
        <p:spPr>
          <a:xfrm>
            <a:off x="822960" y="1188720"/>
            <a:ext cx="10515600" cy="2011680"/>
          </a:xfrm>
          <a:prstGeom prst="rect">
            <a:avLst/>
          </a:prstGeom>
          <a:noFill/>
        </p:spPr>
        <p:txBody>
          <a:bodyPr wrap="square">
            <a:spAutoFit/>
          </a:bodyPr>
          <a:lstStyle/>
          <a:p>
            <a:pPr algn="l"/>
            <a:r>
              <a:rPr sz="2200" b="0">
                <a:solidFill>
                  <a:srgbClr val="FFFFFF"/>
                </a:solidFill>
                <a:latin typeface="Trebuchet MS"/>
              </a:rPr>
              <a:t>The single most valuable conversion mechanism on this site is the primary signup CTA, but it is being diluted by competing CTAs and a lack of concrete value proposition, causing visitors to hesitate or leave the funnel. The homepage and pricing page both present multiple competing CTAs (Book a demo, Start for free, Get the desktop app, Contact support) alongside vague messaging like 'AI notetaker that works (magic) in the background', which fails to communicate the concrete outcome and forces users to choose among actions, bleeding conversion value.</a:t>
            </a:r>
          </a:p>
        </p:txBody>
      </p:sp>
      <p:sp>
        <p:nvSpPr>
          <p:cNvPr id="4" name="TextBox 3"/>
          <p:cNvSpPr txBox="1"/>
          <p:nvPr/>
        </p:nvSpPr>
        <p:spPr>
          <a:xfrm>
            <a:off x="822960" y="3840480"/>
            <a:ext cx="10515600" cy="731520"/>
          </a:xfrm>
          <a:prstGeom prst="rect">
            <a:avLst/>
          </a:prstGeom>
          <a:noFill/>
        </p:spPr>
        <p:txBody>
          <a:bodyPr wrap="square">
            <a:spAutoFit/>
          </a:bodyPr>
          <a:lstStyle/>
          <a:p>
            <a:pPr algn="l"/>
            <a:r>
              <a:rPr sz="3000" b="1">
                <a:solidFill>
                  <a:srgbClr val="3DB891"/>
                </a:solidFill>
                <a:latin typeface="Trebuchet MS"/>
              </a:rPr>
              <a:t>1.6–7.0 orders per 1,000 visitors</a:t>
            </a:r>
          </a:p>
        </p:txBody>
      </p:sp>
      <p:sp>
        <p:nvSpPr>
          <p:cNvPr id="5" name="TextBox 4"/>
          <p:cNvSpPr txBox="1"/>
          <p:nvPr/>
        </p:nvSpPr>
        <p:spPr>
          <a:xfrm>
            <a:off x="822960" y="4663440"/>
            <a:ext cx="10515600" cy="1280160"/>
          </a:xfrm>
          <a:prstGeom prst="rect">
            <a:avLst/>
          </a:prstGeom>
          <a:noFill/>
        </p:spPr>
        <p:txBody>
          <a:bodyPr wrap="square">
            <a:spAutoFit/>
          </a:bodyPr>
          <a:lstStyle/>
          <a:p>
            <a:pPr algn="l"/>
            <a:r>
              <a:rPr sz="1200" b="0">
                <a:solidFill>
                  <a:srgbClr val="7A9E8E"/>
                </a:solidFill>
                <a:latin typeface="Trebuchet MS"/>
              </a:rPr>
              <a:t>Sized opportunity if every change ships and wins — an assumption-bounded range, not a forecast. Roughly 10–30% of A/B tests produce a significant win. The arithmetic for every figure is in the full report.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10515600" cy="457200"/>
          </a:xfrm>
          <a:prstGeom prst="rect">
            <a:avLst/>
          </a:prstGeom>
          <a:noFill/>
        </p:spPr>
        <p:txBody>
          <a:bodyPr wrap="square">
            <a:spAutoFit/>
          </a:bodyPr>
          <a:lstStyle/>
          <a:p>
            <a:pPr algn="l"/>
            <a:r>
              <a:rPr sz="1300" b="1">
                <a:solidFill>
                  <a:srgbClr val="3DB891"/>
                </a:solidFill>
                <a:latin typeface="Trebuchet MS"/>
              </a:rPr>
              <a:t>PRIORITISED FINDINGS</a:t>
            </a:r>
          </a:p>
        </p:txBody>
      </p:sp>
      <p:sp>
        <p:nvSpPr>
          <p:cNvPr id="3" name="TextBox 2"/>
          <p:cNvSpPr txBox="1"/>
          <p:nvPr/>
        </p:nvSpPr>
        <p:spPr>
          <a:xfrm>
            <a:off x="822960" y="1097280"/>
            <a:ext cx="548640" cy="365760"/>
          </a:xfrm>
          <a:prstGeom prst="rect">
            <a:avLst/>
          </a:prstGeom>
          <a:noFill/>
        </p:spPr>
        <p:txBody>
          <a:bodyPr wrap="square">
            <a:spAutoFit/>
          </a:bodyPr>
          <a:lstStyle/>
          <a:p>
            <a:pPr algn="l"/>
            <a:r>
              <a:rPr sz="1600" b="1">
                <a:solidFill>
                  <a:srgbClr val="C0392B"/>
                </a:solidFill>
                <a:latin typeface="Trebuchet MS"/>
              </a:rPr>
              <a:t>1</a:t>
            </a:r>
          </a:p>
        </p:txBody>
      </p:sp>
      <p:sp>
        <p:nvSpPr>
          <p:cNvPr id="4" name="TextBox 3"/>
          <p:cNvSpPr txBox="1"/>
          <p:nvPr/>
        </p:nvSpPr>
        <p:spPr>
          <a:xfrm>
            <a:off x="1371600" y="1097280"/>
            <a:ext cx="6949440" cy="365760"/>
          </a:xfrm>
          <a:prstGeom prst="rect">
            <a:avLst/>
          </a:prstGeom>
          <a:noFill/>
        </p:spPr>
        <p:txBody>
          <a:bodyPr wrap="square">
            <a:spAutoFit/>
          </a:bodyPr>
          <a:lstStyle/>
          <a:p>
            <a:pPr algn="l"/>
            <a:r>
              <a:rPr sz="1600" b="1">
                <a:solidFill>
                  <a:srgbClr val="FFFFFF"/>
                </a:solidFill>
                <a:latin typeface="Trebuchet MS"/>
              </a:rPr>
              <a:t>Competing CTAs dilute primary action</a:t>
            </a:r>
          </a:p>
        </p:txBody>
      </p:sp>
      <p:sp>
        <p:nvSpPr>
          <p:cNvPr id="5" name="TextBox 4"/>
          <p:cNvSpPr txBox="1"/>
          <p:nvPr/>
        </p:nvSpPr>
        <p:spPr>
          <a:xfrm>
            <a:off x="8412480" y="1097280"/>
            <a:ext cx="2926080" cy="365760"/>
          </a:xfrm>
          <a:prstGeom prst="rect">
            <a:avLst/>
          </a:prstGeom>
          <a:noFill/>
        </p:spPr>
        <p:txBody>
          <a:bodyPr wrap="square">
            <a:spAutoFit/>
          </a:bodyPr>
          <a:lstStyle/>
          <a:p>
            <a:pPr algn="l"/>
            <a:r>
              <a:rPr sz="1200" b="0">
                <a:solidFill>
                  <a:srgbClr val="7A9E8E"/>
                </a:solidFill>
                <a:latin typeface="Trebuchet MS"/>
              </a:rPr>
              <a:t>Urgent · Medium · PXL 5/10</a:t>
            </a:r>
          </a:p>
        </p:txBody>
      </p:sp>
      <p:sp>
        <p:nvSpPr>
          <p:cNvPr id="6" name="TextBox 5"/>
          <p:cNvSpPr txBox="1"/>
          <p:nvPr/>
        </p:nvSpPr>
        <p:spPr>
          <a:xfrm>
            <a:off x="1371600" y="1664207"/>
            <a:ext cx="9966960" cy="365760"/>
          </a:xfrm>
          <a:prstGeom prst="rect">
            <a:avLst/>
          </a:prstGeom>
          <a:noFill/>
        </p:spPr>
        <p:txBody>
          <a:bodyPr wrap="square">
            <a:spAutoFit/>
          </a:bodyPr>
          <a:lstStyle/>
          <a:p>
            <a:pPr algn="l"/>
            <a:r>
              <a:rPr sz="1100" b="0">
                <a:solidFill>
                  <a:srgbClr val="7A9E8E"/>
                </a:solidFill>
                <a:latin typeface="Trebuchet MS"/>
              </a:rPr>
              <a:t>The homepage presents four competing CTAs, diluting the primary signup action and creating ambiguity in the first step o</a:t>
            </a:r>
          </a:p>
        </p:txBody>
      </p:sp>
      <p:sp>
        <p:nvSpPr>
          <p:cNvPr id="7" name="TextBox 6"/>
          <p:cNvSpPr txBox="1"/>
          <p:nvPr/>
        </p:nvSpPr>
        <p:spPr>
          <a:xfrm>
            <a:off x="822960" y="2167128"/>
            <a:ext cx="548640" cy="365760"/>
          </a:xfrm>
          <a:prstGeom prst="rect">
            <a:avLst/>
          </a:prstGeom>
          <a:noFill/>
        </p:spPr>
        <p:txBody>
          <a:bodyPr wrap="square">
            <a:spAutoFit/>
          </a:bodyPr>
          <a:lstStyle/>
          <a:p>
            <a:pPr algn="l"/>
            <a:r>
              <a:rPr sz="1600" b="1">
                <a:solidFill>
                  <a:srgbClr val="008061"/>
                </a:solidFill>
                <a:latin typeface="Trebuchet MS"/>
              </a:rPr>
              <a:t>2</a:t>
            </a:r>
          </a:p>
        </p:txBody>
      </p:sp>
      <p:sp>
        <p:nvSpPr>
          <p:cNvPr id="8" name="TextBox 7"/>
          <p:cNvSpPr txBox="1"/>
          <p:nvPr/>
        </p:nvSpPr>
        <p:spPr>
          <a:xfrm>
            <a:off x="1371600" y="2167128"/>
            <a:ext cx="6949440" cy="365760"/>
          </a:xfrm>
          <a:prstGeom prst="rect">
            <a:avLst/>
          </a:prstGeom>
          <a:noFill/>
        </p:spPr>
        <p:txBody>
          <a:bodyPr wrap="square">
            <a:spAutoFit/>
          </a:bodyPr>
          <a:lstStyle/>
          <a:p>
            <a:pPr algn="l"/>
            <a:r>
              <a:rPr sz="1600" b="1">
                <a:solidFill>
                  <a:srgbClr val="FFFFFF"/>
                </a:solidFill>
                <a:latin typeface="Trebuchet MS"/>
              </a:rPr>
              <a:t>Missing trust signals above the fold</a:t>
            </a:r>
          </a:p>
        </p:txBody>
      </p:sp>
      <p:sp>
        <p:nvSpPr>
          <p:cNvPr id="9" name="TextBox 8"/>
          <p:cNvSpPr txBox="1"/>
          <p:nvPr/>
        </p:nvSpPr>
        <p:spPr>
          <a:xfrm>
            <a:off x="8412480" y="2167128"/>
            <a:ext cx="2926080" cy="365760"/>
          </a:xfrm>
          <a:prstGeom prst="rect">
            <a:avLst/>
          </a:prstGeom>
          <a:noFill/>
        </p:spPr>
        <p:txBody>
          <a:bodyPr wrap="square">
            <a:spAutoFit/>
          </a:bodyPr>
          <a:lstStyle/>
          <a:p>
            <a:pPr algn="l"/>
            <a:r>
              <a:rPr sz="1200" b="0">
                <a:solidFill>
                  <a:srgbClr val="7A9E8E"/>
                </a:solidFill>
                <a:latin typeface="Trebuchet MS"/>
              </a:rPr>
              <a:t>High · Medium · PXL 5/10</a:t>
            </a:r>
          </a:p>
        </p:txBody>
      </p:sp>
      <p:sp>
        <p:nvSpPr>
          <p:cNvPr id="10" name="TextBox 9"/>
          <p:cNvSpPr txBox="1"/>
          <p:nvPr/>
        </p:nvSpPr>
        <p:spPr>
          <a:xfrm>
            <a:off x="1371600" y="2734056"/>
            <a:ext cx="9966960" cy="365760"/>
          </a:xfrm>
          <a:prstGeom prst="rect">
            <a:avLst/>
          </a:prstGeom>
          <a:noFill/>
        </p:spPr>
        <p:txBody>
          <a:bodyPr wrap="square">
            <a:spAutoFit/>
          </a:bodyPr>
          <a:lstStyle/>
          <a:p>
            <a:pPr algn="l"/>
            <a:r>
              <a:rPr sz="1100" b="0">
                <a:solidFill>
                  <a:srgbClr val="7A9E8E"/>
                </a:solidFill>
                <a:latin typeface="Trebuchet MS"/>
              </a:rPr>
              <a:t>The homepage shows no sign of returns policy, guarantee, so a first-time visitor has nothing to offset purchase risk.</a:t>
            </a:r>
          </a:p>
        </p:txBody>
      </p:sp>
      <p:sp>
        <p:nvSpPr>
          <p:cNvPr id="11" name="TextBox 10"/>
          <p:cNvSpPr txBox="1"/>
          <p:nvPr/>
        </p:nvSpPr>
        <p:spPr>
          <a:xfrm>
            <a:off x="822960" y="3236976"/>
            <a:ext cx="548640" cy="365760"/>
          </a:xfrm>
          <a:prstGeom prst="rect">
            <a:avLst/>
          </a:prstGeom>
          <a:noFill/>
        </p:spPr>
        <p:txBody>
          <a:bodyPr wrap="square">
            <a:spAutoFit/>
          </a:bodyPr>
          <a:lstStyle/>
          <a:p>
            <a:pPr algn="l"/>
            <a:r>
              <a:rPr sz="1600" b="1">
                <a:solidFill>
                  <a:srgbClr val="008061"/>
                </a:solidFill>
                <a:latin typeface="Trebuchet MS"/>
              </a:rPr>
              <a:t>3</a:t>
            </a:r>
          </a:p>
        </p:txBody>
      </p:sp>
      <p:sp>
        <p:nvSpPr>
          <p:cNvPr id="12" name="TextBox 11"/>
          <p:cNvSpPr txBox="1"/>
          <p:nvPr/>
        </p:nvSpPr>
        <p:spPr>
          <a:xfrm>
            <a:off x="1371600" y="3236976"/>
            <a:ext cx="6949440" cy="365760"/>
          </a:xfrm>
          <a:prstGeom prst="rect">
            <a:avLst/>
          </a:prstGeom>
          <a:noFill/>
        </p:spPr>
        <p:txBody>
          <a:bodyPr wrap="square">
            <a:spAutoFit/>
          </a:bodyPr>
          <a:lstStyle/>
          <a:p>
            <a:pPr algn="l"/>
            <a:r>
              <a:rPr sz="1600" b="1">
                <a:solidFill>
                  <a:srgbClr val="FFFFFF"/>
                </a:solidFill>
                <a:latin typeface="Trebuchet MS"/>
              </a:rPr>
              <a:t>Hero lacks concrete outcome</a:t>
            </a:r>
          </a:p>
        </p:txBody>
      </p:sp>
      <p:sp>
        <p:nvSpPr>
          <p:cNvPr id="13" name="TextBox 12"/>
          <p:cNvSpPr txBox="1"/>
          <p:nvPr/>
        </p:nvSpPr>
        <p:spPr>
          <a:xfrm>
            <a:off x="8412480" y="3236976"/>
            <a:ext cx="2926080" cy="365760"/>
          </a:xfrm>
          <a:prstGeom prst="rect">
            <a:avLst/>
          </a:prstGeom>
          <a:noFill/>
        </p:spPr>
        <p:txBody>
          <a:bodyPr wrap="square">
            <a:spAutoFit/>
          </a:bodyPr>
          <a:lstStyle/>
          <a:p>
            <a:pPr algn="l"/>
            <a:r>
              <a:rPr sz="1200" b="0">
                <a:solidFill>
                  <a:srgbClr val="7A9E8E"/>
                </a:solidFill>
                <a:latin typeface="Trebuchet MS"/>
              </a:rPr>
              <a:t>Medium · Low · PXL 5/10</a:t>
            </a:r>
          </a:p>
        </p:txBody>
      </p:sp>
      <p:sp>
        <p:nvSpPr>
          <p:cNvPr id="14" name="TextBox 13"/>
          <p:cNvSpPr txBox="1"/>
          <p:nvPr/>
        </p:nvSpPr>
        <p:spPr>
          <a:xfrm>
            <a:off x="1371600" y="3803904"/>
            <a:ext cx="9966960" cy="365760"/>
          </a:xfrm>
          <a:prstGeom prst="rect">
            <a:avLst/>
          </a:prstGeom>
          <a:noFill/>
        </p:spPr>
        <p:txBody>
          <a:bodyPr wrap="square">
            <a:spAutoFit/>
          </a:bodyPr>
          <a:lstStyle/>
          <a:p>
            <a:pPr algn="l"/>
            <a:r>
              <a:rPr sz="1100" b="0">
                <a:solidFill>
                  <a:srgbClr val="7A9E8E"/>
                </a:solidFill>
                <a:latin typeface="Trebuchet MS"/>
              </a:rPr>
              <a:t>The homepage headline names the product but uses vague parenthetical language, failing to explain the concrete benefit.</a:t>
            </a:r>
          </a:p>
        </p:txBody>
      </p:sp>
      <p:sp>
        <p:nvSpPr>
          <p:cNvPr id="15" name="TextBox 14"/>
          <p:cNvSpPr txBox="1"/>
          <p:nvPr/>
        </p:nvSpPr>
        <p:spPr>
          <a:xfrm>
            <a:off x="822960" y="4306824"/>
            <a:ext cx="548640" cy="365760"/>
          </a:xfrm>
          <a:prstGeom prst="rect">
            <a:avLst/>
          </a:prstGeom>
          <a:noFill/>
        </p:spPr>
        <p:txBody>
          <a:bodyPr wrap="square">
            <a:spAutoFit/>
          </a:bodyPr>
          <a:lstStyle/>
          <a:p>
            <a:pPr algn="l"/>
            <a:r>
              <a:rPr sz="1600" b="1">
                <a:solidFill>
                  <a:srgbClr val="008061"/>
                </a:solidFill>
                <a:latin typeface="Trebuchet MS"/>
              </a:rPr>
              <a:t>4</a:t>
            </a:r>
          </a:p>
        </p:txBody>
      </p:sp>
      <p:sp>
        <p:nvSpPr>
          <p:cNvPr id="16" name="TextBox 15"/>
          <p:cNvSpPr txBox="1"/>
          <p:nvPr/>
        </p:nvSpPr>
        <p:spPr>
          <a:xfrm>
            <a:off x="1371600" y="4306824"/>
            <a:ext cx="6949440" cy="365760"/>
          </a:xfrm>
          <a:prstGeom prst="rect">
            <a:avLst/>
          </a:prstGeom>
          <a:noFill/>
        </p:spPr>
        <p:txBody>
          <a:bodyPr wrap="square">
            <a:spAutoFit/>
          </a:bodyPr>
          <a:lstStyle/>
          <a:p>
            <a:pPr algn="l"/>
            <a:r>
              <a:rPr sz="1600" b="1">
                <a:solidFill>
                  <a:srgbClr val="FFFFFF"/>
                </a:solidFill>
                <a:latin typeface="Trebuchet MS"/>
              </a:rPr>
              <a:t>Proof headline lacks evidence</a:t>
            </a:r>
          </a:p>
        </p:txBody>
      </p:sp>
      <p:sp>
        <p:nvSpPr>
          <p:cNvPr id="17" name="TextBox 16"/>
          <p:cNvSpPr txBox="1"/>
          <p:nvPr/>
        </p:nvSpPr>
        <p:spPr>
          <a:xfrm>
            <a:off x="8412480" y="4306824"/>
            <a:ext cx="2926080" cy="365760"/>
          </a:xfrm>
          <a:prstGeom prst="rect">
            <a:avLst/>
          </a:prstGeom>
          <a:noFill/>
        </p:spPr>
        <p:txBody>
          <a:bodyPr wrap="square">
            <a:spAutoFit/>
          </a:bodyPr>
          <a:lstStyle/>
          <a:p>
            <a:pPr algn="l"/>
            <a:r>
              <a:rPr sz="1200" b="0">
                <a:solidFill>
                  <a:srgbClr val="7A9E8E"/>
                </a:solidFill>
                <a:latin typeface="Trebuchet MS"/>
              </a:rPr>
              <a:t>Medium · Low · PXL 5/10</a:t>
            </a:r>
          </a:p>
        </p:txBody>
      </p:sp>
      <p:sp>
        <p:nvSpPr>
          <p:cNvPr id="18" name="TextBox 17"/>
          <p:cNvSpPr txBox="1"/>
          <p:nvPr/>
        </p:nvSpPr>
        <p:spPr>
          <a:xfrm>
            <a:off x="1371600" y="4873752"/>
            <a:ext cx="9966960" cy="365760"/>
          </a:xfrm>
          <a:prstGeom prst="rect">
            <a:avLst/>
          </a:prstGeom>
          <a:noFill/>
        </p:spPr>
        <p:txBody>
          <a:bodyPr wrap="square">
            <a:spAutoFit/>
          </a:bodyPr>
          <a:lstStyle/>
          <a:p>
            <a:pPr algn="l"/>
            <a:r>
              <a:rPr sz="1100" b="0">
                <a:solidFill>
                  <a:srgbClr val="7A9E8E"/>
                </a:solidFill>
                <a:latin typeface="Trebuchet MS"/>
              </a:rPr>
              <a:t>The social-proof headline promises results but no customer quotes, company names, or outcome data exist to support it.</a:t>
            </a:r>
          </a:p>
        </p:txBody>
      </p:sp>
      <p:sp>
        <p:nvSpPr>
          <p:cNvPr id="19" name="TextBox 18"/>
          <p:cNvSpPr txBox="1"/>
          <p:nvPr/>
        </p:nvSpPr>
        <p:spPr>
          <a:xfrm>
            <a:off x="822960" y="5376672"/>
            <a:ext cx="548640" cy="365760"/>
          </a:xfrm>
          <a:prstGeom prst="rect">
            <a:avLst/>
          </a:prstGeom>
          <a:noFill/>
        </p:spPr>
        <p:txBody>
          <a:bodyPr wrap="square">
            <a:spAutoFit/>
          </a:bodyPr>
          <a:lstStyle/>
          <a:p>
            <a:pPr algn="l"/>
            <a:r>
              <a:rPr sz="1600" b="1">
                <a:solidFill>
                  <a:srgbClr val="008061"/>
                </a:solidFill>
                <a:latin typeface="Trebuchet MS"/>
              </a:rPr>
              <a:t>5</a:t>
            </a:r>
          </a:p>
        </p:txBody>
      </p:sp>
      <p:sp>
        <p:nvSpPr>
          <p:cNvPr id="20" name="TextBox 19"/>
          <p:cNvSpPr txBox="1"/>
          <p:nvPr/>
        </p:nvSpPr>
        <p:spPr>
          <a:xfrm>
            <a:off x="1371600" y="5376672"/>
            <a:ext cx="6949440" cy="365760"/>
          </a:xfrm>
          <a:prstGeom prst="rect">
            <a:avLst/>
          </a:prstGeom>
          <a:noFill/>
        </p:spPr>
        <p:txBody>
          <a:bodyPr wrap="square">
            <a:spAutoFit/>
          </a:bodyPr>
          <a:lstStyle/>
          <a:p>
            <a:pPr algn="l"/>
            <a:r>
              <a:rPr sz="1600" b="1">
                <a:solidFill>
                  <a:srgbClr val="FFFFFF"/>
                </a:solidFill>
                <a:latin typeface="Trebuchet MS"/>
              </a:rPr>
              <a:t>Security claim without proof</a:t>
            </a:r>
          </a:p>
        </p:txBody>
      </p:sp>
      <p:sp>
        <p:nvSpPr>
          <p:cNvPr id="21" name="TextBox 20"/>
          <p:cNvSpPr txBox="1"/>
          <p:nvPr/>
        </p:nvSpPr>
        <p:spPr>
          <a:xfrm>
            <a:off x="8412480" y="5376672"/>
            <a:ext cx="2926080" cy="365760"/>
          </a:xfrm>
          <a:prstGeom prst="rect">
            <a:avLst/>
          </a:prstGeom>
          <a:noFill/>
        </p:spPr>
        <p:txBody>
          <a:bodyPr wrap="square">
            <a:spAutoFit/>
          </a:bodyPr>
          <a:lstStyle/>
          <a:p>
            <a:pPr algn="l"/>
            <a:r>
              <a:rPr sz="1200" b="0">
                <a:solidFill>
                  <a:srgbClr val="7A9E8E"/>
                </a:solidFill>
                <a:latin typeface="Trebuchet MS"/>
              </a:rPr>
              <a:t>High · Medium · PXL 4/10</a:t>
            </a:r>
          </a:p>
        </p:txBody>
      </p:sp>
      <p:sp>
        <p:nvSpPr>
          <p:cNvPr id="22" name="TextBox 21"/>
          <p:cNvSpPr txBox="1"/>
          <p:nvPr/>
        </p:nvSpPr>
        <p:spPr>
          <a:xfrm>
            <a:off x="1371600" y="5943600"/>
            <a:ext cx="9966960" cy="365760"/>
          </a:xfrm>
          <a:prstGeom prst="rect">
            <a:avLst/>
          </a:prstGeom>
          <a:noFill/>
        </p:spPr>
        <p:txBody>
          <a:bodyPr wrap="square">
            <a:spAutoFit/>
          </a:bodyPr>
          <a:lstStyle/>
          <a:p>
            <a:pPr algn="l"/>
            <a:r>
              <a:rPr sz="1100" b="0">
                <a:solidFill>
                  <a:srgbClr val="7A9E8E"/>
                </a:solidFill>
                <a:latin typeface="Trebuchet MS"/>
              </a:rPr>
              <a:t>The enterprise-grade security claim is repeated without any supporting evidence, undermining trust at the pricing decisi</a:t>
            </a:r>
          </a:p>
        </p:txBody>
      </p:sp>
      <p:sp>
        <p:nvSpPr>
          <p:cNvPr id="23" name="TextBox 22"/>
          <p:cNvSpPr txBox="1"/>
          <p:nvPr/>
        </p:nvSpPr>
        <p:spPr>
          <a:xfrm>
            <a:off x="822960" y="6446520"/>
            <a:ext cx="548640" cy="365760"/>
          </a:xfrm>
          <a:prstGeom prst="rect">
            <a:avLst/>
          </a:prstGeom>
          <a:noFill/>
        </p:spPr>
        <p:txBody>
          <a:bodyPr wrap="square">
            <a:spAutoFit/>
          </a:bodyPr>
          <a:lstStyle/>
          <a:p>
            <a:pPr algn="l"/>
            <a:r>
              <a:rPr sz="1600" b="1">
                <a:solidFill>
                  <a:srgbClr val="008061"/>
                </a:solidFill>
                <a:latin typeface="Trebuchet MS"/>
              </a:rPr>
              <a:t>6</a:t>
            </a:r>
          </a:p>
        </p:txBody>
      </p:sp>
      <p:sp>
        <p:nvSpPr>
          <p:cNvPr id="24" name="TextBox 23"/>
          <p:cNvSpPr txBox="1"/>
          <p:nvPr/>
        </p:nvSpPr>
        <p:spPr>
          <a:xfrm>
            <a:off x="1371600" y="6446520"/>
            <a:ext cx="6949440" cy="365760"/>
          </a:xfrm>
          <a:prstGeom prst="rect">
            <a:avLst/>
          </a:prstGeom>
          <a:noFill/>
        </p:spPr>
        <p:txBody>
          <a:bodyPr wrap="square">
            <a:spAutoFit/>
          </a:bodyPr>
          <a:lstStyle/>
          <a:p>
            <a:pPr algn="l"/>
            <a:r>
              <a:rPr sz="1600" b="1">
                <a:solidFill>
                  <a:srgbClr val="FFFFFF"/>
                </a:solidFill>
                <a:latin typeface="Trebuchet MS"/>
              </a:rPr>
              <a:t>CTA clutter and unclear plan mapping</a:t>
            </a:r>
          </a:p>
        </p:txBody>
      </p:sp>
      <p:sp>
        <p:nvSpPr>
          <p:cNvPr id="25" name="TextBox 24"/>
          <p:cNvSpPr txBox="1"/>
          <p:nvPr/>
        </p:nvSpPr>
        <p:spPr>
          <a:xfrm>
            <a:off x="8412480" y="6446520"/>
            <a:ext cx="2926080" cy="365760"/>
          </a:xfrm>
          <a:prstGeom prst="rect">
            <a:avLst/>
          </a:prstGeom>
          <a:noFill/>
        </p:spPr>
        <p:txBody>
          <a:bodyPr wrap="square">
            <a:spAutoFit/>
          </a:bodyPr>
          <a:lstStyle/>
          <a:p>
            <a:pPr algn="l"/>
            <a:r>
              <a:rPr sz="1200" b="0">
                <a:solidFill>
                  <a:srgbClr val="7A9E8E"/>
                </a:solidFill>
                <a:latin typeface="Trebuchet MS"/>
              </a:rPr>
              <a:t>Medium · Medium · PXL 4/10</a:t>
            </a:r>
          </a:p>
        </p:txBody>
      </p:sp>
      <p:sp>
        <p:nvSpPr>
          <p:cNvPr id="26" name="TextBox 25"/>
          <p:cNvSpPr txBox="1"/>
          <p:nvPr/>
        </p:nvSpPr>
        <p:spPr>
          <a:xfrm>
            <a:off x="1371600" y="7013448"/>
            <a:ext cx="9966960" cy="365760"/>
          </a:xfrm>
          <a:prstGeom prst="rect">
            <a:avLst/>
          </a:prstGeom>
          <a:noFill/>
        </p:spPr>
        <p:txBody>
          <a:bodyPr wrap="square">
            <a:spAutoFit/>
          </a:bodyPr>
          <a:lstStyle/>
          <a:p>
            <a:pPr algn="l"/>
            <a:r>
              <a:rPr sz="1100" b="0">
                <a:solidFill>
                  <a:srgbClr val="7A9E8E"/>
                </a:solidFill>
                <a:latin typeface="Trebuchet MS"/>
              </a:rPr>
              <a:t>The pricing page presents multiple similar CTAs without clear association to tiers, confusing the next step after plan 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C0392B"/>
                </a:solidFill>
                <a:latin typeface="Trebuchet MS"/>
              </a:rPr>
              <a:t>PRIORITY 1 — Urgent</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Competing CTAs dilute primary action</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"ctas: Book a demo | Start for free | Get the desktop app | Contact support"</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Multiple competing CTAs on the homepage dilute the primary signup action, creating ambiguity in the first step of the funnel.</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0.4–1.6 orders/1k visitors if it wins  ·  effort Medium  ·  2-5 days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2 — High</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Missing trust signals above the fold</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"Measured on the live homepage: no match for returns policy, guarantee."</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The homepage shows no sign of returns policy, guarantee, so a first-time visitor has nothing to offset purchase risk.</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0.2–1.0 orders/1k visitors if it wins  ·  effort Medium  ·  2-5 days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3 — Medium</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Hero lacks concrete outcome</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"AI notetaker that works (magic) in the background"</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The homepage headline names the product but uses vague parenthetical language, failing to explain the concrete benefit.</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0.1–0.4 orders/1k visitors if it wins  ·  effort Low  ·  0.5-2 days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4 — Medium</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Proof headline lacks evidence</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"Real teams. Real meetings. Real results."</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The social-proof headline promises results but no customer quotes, company names, or outcome data exist to support it.</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0.1–0.4 orders/1k visitors if it wins  ·  effort Low  ·  0.5-2 days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5 — High</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Security claim without proof</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"Enterprise-grade security. No compromise."</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The enterprise-grade security claim is repeated without any supporting evidence, undermining trust at the pricing decision point.</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0.2–1.0 orders/1k visitors if it wins  ·  effort Medium  ·  2-5 days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10515600" cy="457200"/>
          </a:xfrm>
          <a:prstGeom prst="rect">
            <a:avLst/>
          </a:prstGeom>
          <a:noFill/>
        </p:spPr>
        <p:txBody>
          <a:bodyPr wrap="square">
            <a:spAutoFit/>
          </a:bodyPr>
          <a:lstStyle/>
          <a:p>
            <a:pPr algn="l"/>
            <a:r>
              <a:rPr sz="1300" b="1">
                <a:solidFill>
                  <a:srgbClr val="3DB891"/>
                </a:solidFill>
                <a:latin typeface="Trebuchet MS"/>
              </a:rPr>
              <a:t>FOUR-WEEK ROADMAP</a:t>
            </a:r>
          </a:p>
        </p:txBody>
      </p:sp>
      <p:sp>
        <p:nvSpPr>
          <p:cNvPr id="3" name="TextBox 2"/>
          <p:cNvSpPr txBox="1"/>
          <p:nvPr/>
        </p:nvSpPr>
        <p:spPr>
          <a:xfrm>
            <a:off x="640080" y="1188720"/>
            <a:ext cx="2651760" cy="365760"/>
          </a:xfrm>
          <a:prstGeom prst="rect">
            <a:avLst/>
          </a:prstGeom>
          <a:noFill/>
        </p:spPr>
        <p:txBody>
          <a:bodyPr wrap="square">
            <a:spAutoFit/>
          </a:bodyPr>
          <a:lstStyle/>
          <a:p>
            <a:pPr algn="l"/>
            <a:r>
              <a:rPr sz="1500" b="1">
                <a:solidFill>
                  <a:srgbClr val="008061"/>
                </a:solidFill>
                <a:latin typeface="Trebuchet MS"/>
              </a:rPr>
              <a:t>Week 1</a:t>
            </a:r>
          </a:p>
        </p:txBody>
      </p:sp>
      <p:sp>
        <p:nvSpPr>
          <p:cNvPr id="4" name="TextBox 3"/>
          <p:cNvSpPr txBox="1"/>
          <p:nvPr/>
        </p:nvSpPr>
        <p:spPr>
          <a:xfrm>
            <a:off x="640080" y="1737360"/>
            <a:ext cx="2651760" cy="731520"/>
          </a:xfrm>
          <a:prstGeom prst="rect">
            <a:avLst/>
          </a:prstGeom>
          <a:noFill/>
        </p:spPr>
        <p:txBody>
          <a:bodyPr wrap="square">
            <a:spAutoFit/>
          </a:bodyPr>
          <a:lstStyle/>
          <a:p>
            <a:pPr algn="l"/>
            <a:r>
              <a:rPr sz="1100" b="0">
                <a:solidFill>
                  <a:srgbClr val="FFFFFF"/>
                </a:solidFill>
                <a:latin typeface="Trebuchet MS"/>
              </a:rPr>
              <a:t>• Competing CTAs dilute primary action</a:t>
            </a:r>
          </a:p>
        </p:txBody>
      </p:sp>
      <p:sp>
        <p:nvSpPr>
          <p:cNvPr id="5" name="TextBox 4"/>
          <p:cNvSpPr txBox="1"/>
          <p:nvPr/>
        </p:nvSpPr>
        <p:spPr>
          <a:xfrm>
            <a:off x="640080" y="2240280"/>
            <a:ext cx="2651760" cy="731520"/>
          </a:xfrm>
          <a:prstGeom prst="rect">
            <a:avLst/>
          </a:prstGeom>
          <a:noFill/>
        </p:spPr>
        <p:txBody>
          <a:bodyPr wrap="square">
            <a:spAutoFit/>
          </a:bodyPr>
          <a:lstStyle/>
          <a:p>
            <a:pPr algn="l"/>
            <a:r>
              <a:rPr sz="1100" b="0">
                <a:solidFill>
                  <a:srgbClr val="FFFFFF"/>
                </a:solidFill>
                <a:latin typeface="Trebuchet MS"/>
              </a:rPr>
              <a:t>• Hero lacks concrete outcome</a:t>
            </a:r>
          </a:p>
        </p:txBody>
      </p:sp>
      <p:sp>
        <p:nvSpPr>
          <p:cNvPr id="6" name="TextBox 5"/>
          <p:cNvSpPr txBox="1"/>
          <p:nvPr/>
        </p:nvSpPr>
        <p:spPr>
          <a:xfrm>
            <a:off x="640080" y="2743200"/>
            <a:ext cx="2651760" cy="731520"/>
          </a:xfrm>
          <a:prstGeom prst="rect">
            <a:avLst/>
          </a:prstGeom>
          <a:noFill/>
        </p:spPr>
        <p:txBody>
          <a:bodyPr wrap="square">
            <a:spAutoFit/>
          </a:bodyPr>
          <a:lstStyle/>
          <a:p>
            <a:pPr algn="l"/>
            <a:r>
              <a:rPr sz="1100" b="0">
                <a:solidFill>
                  <a:srgbClr val="FFFFFF"/>
                </a:solidFill>
                <a:latin typeface="Trebuchet MS"/>
              </a:rPr>
              <a:t>• Proof headline lacks evidence</a:t>
            </a:r>
          </a:p>
        </p:txBody>
      </p:sp>
      <p:sp>
        <p:nvSpPr>
          <p:cNvPr id="7" name="TextBox 6"/>
          <p:cNvSpPr txBox="1"/>
          <p:nvPr/>
        </p:nvSpPr>
        <p:spPr>
          <a:xfrm>
            <a:off x="3474720" y="1188720"/>
            <a:ext cx="2651760" cy="365760"/>
          </a:xfrm>
          <a:prstGeom prst="rect">
            <a:avLst/>
          </a:prstGeom>
          <a:noFill/>
        </p:spPr>
        <p:txBody>
          <a:bodyPr wrap="square">
            <a:spAutoFit/>
          </a:bodyPr>
          <a:lstStyle/>
          <a:p>
            <a:pPr algn="l"/>
            <a:r>
              <a:rPr sz="1500" b="1">
                <a:solidFill>
                  <a:srgbClr val="008061"/>
                </a:solidFill>
                <a:latin typeface="Trebuchet MS"/>
              </a:rPr>
              <a:t>Week 2</a:t>
            </a:r>
          </a:p>
        </p:txBody>
      </p:sp>
      <p:sp>
        <p:nvSpPr>
          <p:cNvPr id="8" name="TextBox 7"/>
          <p:cNvSpPr txBox="1"/>
          <p:nvPr/>
        </p:nvSpPr>
        <p:spPr>
          <a:xfrm>
            <a:off x="3474720" y="1737360"/>
            <a:ext cx="2651760" cy="731520"/>
          </a:xfrm>
          <a:prstGeom prst="rect">
            <a:avLst/>
          </a:prstGeom>
          <a:noFill/>
        </p:spPr>
        <p:txBody>
          <a:bodyPr wrap="square">
            <a:spAutoFit/>
          </a:bodyPr>
          <a:lstStyle/>
          <a:p>
            <a:pPr algn="l"/>
            <a:r>
              <a:rPr sz="1100" b="0">
                <a:solidFill>
                  <a:srgbClr val="FFFFFF"/>
                </a:solidFill>
                <a:latin typeface="Trebuchet MS"/>
              </a:rPr>
              <a:t>• Missing trust signals above the fold</a:t>
            </a:r>
          </a:p>
        </p:txBody>
      </p:sp>
      <p:sp>
        <p:nvSpPr>
          <p:cNvPr id="9" name="TextBox 8"/>
          <p:cNvSpPr txBox="1"/>
          <p:nvPr/>
        </p:nvSpPr>
        <p:spPr>
          <a:xfrm>
            <a:off x="3474720" y="2240280"/>
            <a:ext cx="2651760" cy="731520"/>
          </a:xfrm>
          <a:prstGeom prst="rect">
            <a:avLst/>
          </a:prstGeom>
          <a:noFill/>
        </p:spPr>
        <p:txBody>
          <a:bodyPr wrap="square">
            <a:spAutoFit/>
          </a:bodyPr>
          <a:lstStyle/>
          <a:p>
            <a:pPr algn="l"/>
            <a:r>
              <a:rPr sz="1100" b="0">
                <a:solidFill>
                  <a:srgbClr val="FFFFFF"/>
                </a:solidFill>
                <a:latin typeface="Trebuchet MS"/>
              </a:rPr>
              <a:t>• Security claim without proof</a:t>
            </a:r>
          </a:p>
        </p:txBody>
      </p:sp>
      <p:sp>
        <p:nvSpPr>
          <p:cNvPr id="10" name="TextBox 9"/>
          <p:cNvSpPr txBox="1"/>
          <p:nvPr/>
        </p:nvSpPr>
        <p:spPr>
          <a:xfrm>
            <a:off x="6309360" y="1188720"/>
            <a:ext cx="2651760" cy="365760"/>
          </a:xfrm>
          <a:prstGeom prst="rect">
            <a:avLst/>
          </a:prstGeom>
          <a:noFill/>
        </p:spPr>
        <p:txBody>
          <a:bodyPr wrap="square">
            <a:spAutoFit/>
          </a:bodyPr>
          <a:lstStyle/>
          <a:p>
            <a:pPr algn="l"/>
            <a:r>
              <a:rPr sz="1500" b="1">
                <a:solidFill>
                  <a:srgbClr val="008061"/>
                </a:solidFill>
                <a:latin typeface="Trebuchet MS"/>
              </a:rPr>
              <a:t>Week 3</a:t>
            </a:r>
          </a:p>
        </p:txBody>
      </p:sp>
      <p:sp>
        <p:nvSpPr>
          <p:cNvPr id="11" name="TextBox 10"/>
          <p:cNvSpPr txBox="1"/>
          <p:nvPr/>
        </p:nvSpPr>
        <p:spPr>
          <a:xfrm>
            <a:off x="6309360" y="1737360"/>
            <a:ext cx="2651760" cy="731520"/>
          </a:xfrm>
          <a:prstGeom prst="rect">
            <a:avLst/>
          </a:prstGeom>
          <a:noFill/>
        </p:spPr>
        <p:txBody>
          <a:bodyPr wrap="square">
            <a:spAutoFit/>
          </a:bodyPr>
          <a:lstStyle/>
          <a:p>
            <a:pPr algn="l"/>
            <a:r>
              <a:rPr sz="1100" b="0">
                <a:solidFill>
                  <a:srgbClr val="FFFFFF"/>
                </a:solidFill>
                <a:latin typeface="Trebuchet MS"/>
              </a:rPr>
              <a:t>• CTA clutter and unclear plan mapping</a:t>
            </a:r>
          </a:p>
        </p:txBody>
      </p:sp>
      <p:sp>
        <p:nvSpPr>
          <p:cNvPr id="12" name="TextBox 11"/>
          <p:cNvSpPr txBox="1"/>
          <p:nvPr/>
        </p:nvSpPr>
        <p:spPr>
          <a:xfrm>
            <a:off x="6309360" y="2240280"/>
            <a:ext cx="2651760" cy="731520"/>
          </a:xfrm>
          <a:prstGeom prst="rect">
            <a:avLst/>
          </a:prstGeom>
          <a:noFill/>
        </p:spPr>
        <p:txBody>
          <a:bodyPr wrap="square">
            <a:spAutoFit/>
          </a:bodyPr>
          <a:lstStyle/>
          <a:p>
            <a:pPr algn="l"/>
            <a:r>
              <a:rPr sz="1100" b="0">
                <a:solidFill>
                  <a:srgbClr val="FFFFFF"/>
                </a:solidFill>
                <a:latin typeface="Trebuchet MS"/>
              </a:rPr>
              <a:t>• Support CTA offers funnel off-ramp</a:t>
            </a:r>
          </a:p>
        </p:txBody>
      </p:sp>
      <p:sp>
        <p:nvSpPr>
          <p:cNvPr id="13" name="TextBox 12"/>
          <p:cNvSpPr txBox="1"/>
          <p:nvPr/>
        </p:nvSpPr>
        <p:spPr>
          <a:xfrm>
            <a:off x="6309360" y="2743200"/>
            <a:ext cx="2651760" cy="731520"/>
          </a:xfrm>
          <a:prstGeom prst="rect">
            <a:avLst/>
          </a:prstGeom>
          <a:noFill/>
        </p:spPr>
        <p:txBody>
          <a:bodyPr wrap="square">
            <a:spAutoFit/>
          </a:bodyPr>
          <a:lstStyle/>
          <a:p>
            <a:pPr algn="l"/>
            <a:r>
              <a:rPr sz="1100" b="0">
                <a:solidFill>
                  <a:srgbClr val="FFFFFF"/>
                </a:solidFill>
                <a:latin typeface="Trebuchet MS"/>
              </a:rPr>
              <a:t>• No guarantee at pricing</a:t>
            </a:r>
          </a:p>
        </p:txBody>
      </p:sp>
      <p:sp>
        <p:nvSpPr>
          <p:cNvPr id="14" name="TextBox 13"/>
          <p:cNvSpPr txBox="1"/>
          <p:nvPr/>
        </p:nvSpPr>
        <p:spPr>
          <a:xfrm>
            <a:off x="9144000" y="1188720"/>
            <a:ext cx="2651760" cy="365760"/>
          </a:xfrm>
          <a:prstGeom prst="rect">
            <a:avLst/>
          </a:prstGeom>
          <a:noFill/>
        </p:spPr>
        <p:txBody>
          <a:bodyPr wrap="square">
            <a:spAutoFit/>
          </a:bodyPr>
          <a:lstStyle/>
          <a:p>
            <a:pPr algn="l"/>
            <a:r>
              <a:rPr sz="1500" b="1">
                <a:solidFill>
                  <a:srgbClr val="008061"/>
                </a:solidFill>
                <a:latin typeface="Trebuchet MS"/>
              </a:rPr>
              <a:t>Week 4</a:t>
            </a:r>
          </a:p>
        </p:txBody>
      </p:sp>
      <p:sp>
        <p:nvSpPr>
          <p:cNvPr id="15" name="TextBox 14"/>
          <p:cNvSpPr txBox="1"/>
          <p:nvPr/>
        </p:nvSpPr>
        <p:spPr>
          <a:xfrm>
            <a:off x="9144000" y="1737360"/>
            <a:ext cx="2651760" cy="731520"/>
          </a:xfrm>
          <a:prstGeom prst="rect">
            <a:avLst/>
          </a:prstGeom>
          <a:noFill/>
        </p:spPr>
        <p:txBody>
          <a:bodyPr wrap="square">
            <a:spAutoFit/>
          </a:bodyPr>
          <a:lstStyle/>
          <a:p>
            <a:pPr algn="l"/>
            <a:r>
              <a:rPr sz="1100" b="0">
                <a:solidFill>
                  <a:srgbClr val="FFFFFF"/>
                </a:solidFill>
                <a:latin typeface="Trebuchet MS"/>
              </a:rPr>
              <a:t>• Pricing lacks billing context</a:t>
            </a:r>
          </a:p>
        </p:txBody>
      </p:sp>
      <p:sp>
        <p:nvSpPr>
          <p:cNvPr id="16" name="TextBox 15"/>
          <p:cNvSpPr txBox="1"/>
          <p:nvPr/>
        </p:nvSpPr>
        <p:spPr>
          <a:xfrm>
            <a:off x="9144000" y="2240280"/>
            <a:ext cx="2651760" cy="731520"/>
          </a:xfrm>
          <a:prstGeom prst="rect">
            <a:avLst/>
          </a:prstGeom>
          <a:noFill/>
        </p:spPr>
        <p:txBody>
          <a:bodyPr wrap="square">
            <a:spAutoFit/>
          </a:bodyPr>
          <a:lstStyle/>
          <a:p>
            <a:pPr algn="l"/>
            <a:r>
              <a:rPr sz="1100" b="0">
                <a:solidFill>
                  <a:srgbClr val="FFFFFF"/>
                </a:solidFill>
                <a:latin typeface="Trebuchet MS"/>
              </a:rPr>
              <a:t>• Email gate blocks enterprise evaluation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548640"/>
            <a:ext cx="10515600" cy="457200"/>
          </a:xfrm>
          <a:prstGeom prst="rect">
            <a:avLst/>
          </a:prstGeom>
          <a:noFill/>
        </p:spPr>
        <p:txBody>
          <a:bodyPr wrap="square">
            <a:spAutoFit/>
          </a:bodyPr>
          <a:lstStyle/>
          <a:p>
            <a:pPr algn="l"/>
            <a:r>
              <a:rPr sz="1300" b="1">
                <a:solidFill>
                  <a:srgbClr val="3DB891"/>
                </a:solidFill>
                <a:latin typeface="Trebuchet MS"/>
              </a:rPr>
              <a:t>HOW TO READ THIS</a:t>
            </a:r>
          </a:p>
        </p:txBody>
      </p:sp>
      <p:sp>
        <p:nvSpPr>
          <p:cNvPr id="3" name="TextBox 2"/>
          <p:cNvSpPr txBox="1"/>
          <p:nvPr/>
        </p:nvSpPr>
        <p:spPr>
          <a:xfrm>
            <a:off x="822960" y="1280160"/>
            <a:ext cx="10515600" cy="4206240"/>
          </a:xfrm>
          <a:prstGeom prst="rect">
            <a:avLst/>
          </a:prstGeom>
          <a:noFill/>
        </p:spPr>
        <p:txBody>
          <a:bodyPr wrap="square">
            <a:spAutoFit/>
          </a:bodyPr>
          <a:lstStyle/>
          <a:p>
            <a:pPr algn="l"/>
            <a:r>
              <a:rPr sz="1500" b="0">
                <a:solidFill>
                  <a:srgbClr val="FFFFFF"/>
                </a:solidFill>
                <a:latin typeface="Trebuchet MS"/>
              </a:rPr>
              <a:t>7 independent analysts reviewed the live site: six heuristic specialists plus one deterministic measurement pass (Core Web Vitals field data, accessibility, security headers, SEO metadata).
Findings marked 'verified' are reproducible measurements. Everything else is expert inspection with quoted evidence — a hypothesis until tested.
Every number in the report carries its arithmetic: click 'How is this calculated?' next to any figure. Opportunity ranges assume the change ships AND wins; they are never forecasts.
Full evidence, PXL scoring, developer specs and experiment designs are in the web report.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